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75" r:id="rId9"/>
    <p:sldId id="261" r:id="rId10"/>
    <p:sldId id="262" r:id="rId11"/>
    <p:sldId id="276" r:id="rId12"/>
    <p:sldId id="263" r:id="rId13"/>
    <p:sldId id="264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A9EE"/>
    <a:srgbClr val="698EC6"/>
    <a:srgbClr val="42AA8B"/>
    <a:srgbClr val="43AA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/>
    <p:restoredTop sz="94610"/>
  </p:normalViewPr>
  <p:slideViewPr>
    <p:cSldViewPr snapToGrid="0" snapToObjects="1">
      <p:cViewPr>
        <p:scale>
          <a:sx n="97" d="100"/>
          <a:sy n="97" d="100"/>
        </p:scale>
        <p:origin x="127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78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5BBE-6296-AC24-3251-E975BE0C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89C58-568C-DD7C-0F40-F052E5D4F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6F025-B7B3-E3B9-3F44-7A8331224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D0217-E399-6C48-8B53-FFC0C459F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30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FEB5-1611-35DC-FD4C-1333C545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54DE4-94B2-D8E7-451A-74046207C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99750-F53E-FD84-BF27-17AC72D42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80752-D727-DEF1-CADB-25C067231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43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BA031-FB23-15C7-4F33-8AF5F40F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26A57-EFB0-FA54-3E83-AFBC2508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86DA6-22E9-06EB-C48F-DE4DE8CE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3A559-44B2-079E-2BB0-906DF84AD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2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554361-B690-3E4C-B84C-F34EA69928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739347"/>
            <a:ext cx="11277600" cy="243508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281488"/>
            <a:ext cx="11277600" cy="1349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A2CF09-9200-3B41-9C05-50196FEEBB4F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457200"/>
            <a:ext cx="2722880" cy="8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8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554361-B690-3E4C-B84C-F34EA69928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3330221"/>
            <a:ext cx="11277600" cy="13162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786651"/>
            <a:ext cx="11277600" cy="844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981663" y="635433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7D9273-2067-8944-BDD1-B9F5550A3629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4817" y="1227137"/>
            <a:ext cx="4662366" cy="152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739347"/>
            <a:ext cx="11277600" cy="2435087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281488"/>
            <a:ext cx="11277600" cy="1349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7B98226-1DA5-7949-AEE8-84E46913EC46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457200"/>
            <a:ext cx="2722880" cy="8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2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Main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C56-213C-EA41-B689-1C3D87287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3330221"/>
            <a:ext cx="11277600" cy="13162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5199E-092D-7246-953C-002E2F9131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786651"/>
            <a:ext cx="11277600" cy="8442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3A92D3-8DF6-744F-BB50-11DD20034C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981663" y="635433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F6B4BA2-36CD-874F-90FF-1A5376D0E30E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F7B9A88-AFD9-424E-B154-06DC3A0105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203916-7495-6A4E-946D-0DA70579D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69502-4559-1283-9611-4E71E4A3F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4819" y="1227137"/>
            <a:ext cx="4662361" cy="152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8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0BCF41-9DBA-EC4F-BA78-5DBE7D6FB96C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30B07-22FF-8B17-10D5-2A9BC71D2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9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E38322-D3D4-26FD-4CCE-944D69447D90}"/>
              </a:ext>
            </a:extLst>
          </p:cNvPr>
          <p:cNvSpPr/>
          <p:nvPr/>
        </p:nvSpPr>
        <p:spPr>
          <a:xfrm>
            <a:off x="0" y="6027821"/>
            <a:ext cx="12192000" cy="8302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68C78-B373-2548-9555-A7495BCD46E0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CA390-B596-4876-6501-D4B7CD32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4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E38322-D3D4-26FD-4CCE-944D69447D90}"/>
              </a:ext>
            </a:extLst>
          </p:cNvPr>
          <p:cNvSpPr/>
          <p:nvPr/>
        </p:nvSpPr>
        <p:spPr>
          <a:xfrm>
            <a:off x="0" y="0"/>
            <a:ext cx="12192000" cy="68580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CD6C121-3817-4046-BA07-7110EF3A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4323390-6AFC-9A4A-9D3C-3EC31355E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30C39-30B3-4342-9C3A-1E4B1A1D26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4F705-AA96-1B40-A560-5E4B78097083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F3FA7-7874-FC43-8419-A69455831C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F40B2-A2A0-3241-B5C0-7EB3A62BA7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CA390-B596-4876-6501-D4B7CD32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800">
                <a:latin typeface="Helvetica" pitchFamily="2" charset="0"/>
              </a:defRPr>
            </a:lvl3pPr>
            <a:lvl4pPr>
              <a:defRPr sz="1800">
                <a:latin typeface="Helvetica" pitchFamily="2" charset="0"/>
              </a:defRPr>
            </a:lvl4pPr>
            <a:lvl5pPr>
              <a:defRPr sz="1800"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646B6-4955-A947-90DE-A1D3121E0F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89DBC9-1022-7D4A-8ACA-2BD7BE83D758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56850-78D7-704B-B70F-17BC1C307A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EBDE9E-F704-D041-80CD-3E548B9718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99FAD-E5F1-4D61-6D93-B26DEFCB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2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800">
                <a:latin typeface="Helvetica" pitchFamily="2" charset="0"/>
              </a:defRPr>
            </a:lvl2pPr>
            <a:lvl3pPr>
              <a:defRPr sz="1800">
                <a:latin typeface="Helvetica" pitchFamily="2" charset="0"/>
              </a:defRPr>
            </a:lvl3pPr>
            <a:lvl4pPr>
              <a:defRPr sz="1800">
                <a:latin typeface="Helvetica" pitchFamily="2" charset="0"/>
              </a:defRPr>
            </a:lvl4pPr>
            <a:lvl5pPr>
              <a:defRPr sz="1800"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86A67-0390-43B2-BC86-E52723FB2169}"/>
              </a:ext>
            </a:extLst>
          </p:cNvPr>
          <p:cNvSpPr/>
          <p:nvPr/>
        </p:nvSpPr>
        <p:spPr>
          <a:xfrm>
            <a:off x="0" y="6027821"/>
            <a:ext cx="12192000" cy="8302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331B086F-C7B4-A81B-CCFF-5731AFA6DEB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689FF0-D0C9-7D40-A3B2-524748838775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3253AE9-0A79-4BE8-E3C9-4660F48005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9DA64A9-81CA-0518-E4F6-2D084D6269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BDBAA-3BAA-AFCD-31C6-56FBAC1F5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8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986A67-0390-43B2-BC86-E52723FB2169}"/>
              </a:ext>
            </a:extLst>
          </p:cNvPr>
          <p:cNvSpPr/>
          <p:nvPr/>
        </p:nvSpPr>
        <p:spPr>
          <a:xfrm>
            <a:off x="0" y="0"/>
            <a:ext cx="12192000" cy="68580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F08E5C-5AE9-D04D-BC41-E35DC79993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11277600" cy="4864843"/>
          </a:xfrm>
        </p:spPr>
        <p:txBody>
          <a:bodyPr>
            <a:noAutofit/>
          </a:bodyPr>
          <a:lstStyle>
            <a:lvl1pPr>
              <a:defRPr sz="1800">
                <a:solidFill>
                  <a:schemeClr val="bg1"/>
                </a:solidFill>
                <a:latin typeface="Helvetica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18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1800">
                <a:solidFill>
                  <a:schemeClr val="bg1"/>
                </a:solidFill>
                <a:latin typeface="Helvetica" pitchFamily="2" charset="0"/>
              </a:defRPr>
            </a:lvl4pPr>
            <a:lvl5pPr>
              <a:defRPr sz="1800">
                <a:solidFill>
                  <a:schemeClr val="bg1"/>
                </a:solidFill>
                <a:latin typeface="Helvetica" pitchFamily="2" charset="0"/>
              </a:defRPr>
            </a:lvl5pPr>
            <a:lvl6pPr marL="2286000" indent="0">
              <a:buNone/>
              <a:defRPr sz="2800">
                <a:latin typeface="Helvetica" pitchFamily="2" charset="0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331B086F-C7B4-A81B-CCFF-5731AFA6DEB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72219" y="627330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CBC3FA-6CCF-164A-AEBF-7F3D1AFD8B0D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3253AE9-0A79-4BE8-E3C9-4660F48005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6861" y="6271694"/>
            <a:ext cx="21534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and Proprietary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9DA64A9-81CA-0518-E4F6-2D084D6269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71030" y="6271694"/>
            <a:ext cx="49306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5BDBAA-3BAA-AFCD-31C6-56FBAC1F5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98418" y="6144046"/>
            <a:ext cx="1907243" cy="62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9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FA90AAC8-1637-384E-92D4-FA5F21065C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96143"/>
            <a:ext cx="11277600" cy="4384737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79035D83-15FC-054F-9A61-DFECEF9C1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7083F-FEA3-0A4E-B957-D0F5630C87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32C50CC-9143-6947-8B63-ACF70626FDF6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A7A9D-4B57-6747-A344-344BA8A08C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F7E71-58AA-9C41-9890-F99C9F9E3D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03EEC-D9D6-14BA-BED7-440A7C0E28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08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77E57D-94A3-A54B-AB6F-B5C6E77F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57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C4412-01B6-AD41-A5E8-593DA3BC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ED4B2-2829-6449-A201-6E870B660A66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5B6529-7543-2F4D-BABA-9AEF7E9A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DCA14-5FFE-3342-A49F-5E49A5F5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657712-2B42-F8FD-6528-430BDFF1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39422" y="6294651"/>
            <a:ext cx="1595376" cy="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03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E6ABDB-FFE9-0240-B94E-D6303E79FA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316037"/>
            <a:ext cx="5399590" cy="486484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196290C-A119-7A49-BF34-AA347E59E3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35210" y="1316037"/>
            <a:ext cx="5399590" cy="486484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9E7E9-F2EE-424F-9BAD-DF9AA9113C7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6520BF6-387E-E545-A0A8-22CB79261DCD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FE9F7-CE10-A04F-B612-0E09A330F9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EFD9A9-5F06-504B-B551-773874ADC4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34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9BFB21FE-F606-FD4E-ADDB-114F88046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45129"/>
            <a:ext cx="5437414" cy="4335751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9E21AAA3-E7E0-A84B-BDF7-FD0F2E3DA8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97386" y="1845129"/>
            <a:ext cx="5437414" cy="4335751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D14627E-DFBF-E14A-89C2-F84D7F8361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08D34-019E-2047-BA8E-81BD11B8215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35E0DC-2D73-3045-B38C-08F953B55822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79D45-DCAA-414A-99AA-543468EDAC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B3148-10E9-1D41-9D8F-A679EEA5E45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19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3217BD7-2300-7246-A5F9-1384018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358738" y="1316037"/>
            <a:ext cx="4376062" cy="4752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C737F08-711E-0342-9B39-DC404C70881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316037"/>
            <a:ext cx="6466114" cy="486484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03C3-2B4D-6A48-84EF-E2ED8C08671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B91A82A-CF42-FF4A-919E-E4E5AE2CA3AD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3B40F-9460-7040-BCC8-7C848C3F3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Confidential and Proprietary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D0FBE-6971-B844-88CB-E12201C9C9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6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7358738" y="1817226"/>
            <a:ext cx="4376062" cy="42513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D1759D3-54E0-394D-8B1E-AD59D9AA1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2016"/>
            <a:ext cx="11277600" cy="57573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 baseline="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CDB3E98A-2D2C-124D-ABEA-7A2C8C687E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817226"/>
            <a:ext cx="6711043" cy="425136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A1250519-880F-8F40-AC34-B59AFD005D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488" y="1127152"/>
            <a:ext cx="8405812" cy="416170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40435-F292-DF4B-ACA4-8D920150A0C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F484D40-84EF-5849-939E-7A2E9F0089AD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4B316-DDC4-8440-8754-0591C68136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E1B76-7FE7-2D4C-9BB4-A82973E6169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786350F-9408-034A-AFB5-5A0C5614CEB6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6096000" y="457200"/>
            <a:ext cx="5638800" cy="56113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400" i="1" baseline="0">
                <a:solidFill>
                  <a:schemeClr val="tx1"/>
                </a:solidFill>
                <a:latin typeface="arial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F5518765-2606-8E42-8E9E-3540E7CA3A6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457201"/>
            <a:ext cx="5306786" cy="561138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70098-7F01-EF4D-BA00-92640C61CE3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99B225D-BE18-DD43-B6B1-8D3FD847BE0A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0DA6AF-77D4-B743-AC32-A491F1E0220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8E150-64F3-2D48-BAD5-1E743580008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82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DDDC5D7-1CE9-5544-BD15-443978101F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156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28C17-E9CD-4E41-9427-A73E795BCE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010893B-9E16-864B-BB4C-14D9BAB2E377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F5474-F55D-6D43-BB5B-1603F041F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7F2F57-7B1C-4B41-B5A6-4BAB27ECC42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03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DDDC5D7-1CE9-5544-BD15-443978101F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457200"/>
            <a:ext cx="5406887" cy="56992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6C97275-EA8B-8343-A5B1-9D30F7FCF47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3263" y="457200"/>
            <a:ext cx="5406887" cy="56992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FCC325-64D5-1242-A324-C628E280384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657A94-1953-2245-86C3-40EF622F774A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E4FC1-2BEA-E540-93A9-0DD8B1465B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18D3D8-8817-CB46-A90A-F7181D32CA0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17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EA8AE54-753A-9446-A1F7-F0BF77CF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1AC44-D7B3-0D4A-8B56-2454CECAF56C}" type="datetime2">
              <a:rPr lang="en-US" smtClean="0"/>
              <a:t>Wednesday, May 27, 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9EE01E-1D91-6E45-9171-5CEE1155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and Proprietary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50BF713-C1D8-C04A-8B4A-FF63D9C4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22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239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FCB3E6A-B3D1-574C-8BF6-1DB3F373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8490"/>
            <a:ext cx="12192000" cy="48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02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5F4AE-E77F-FA46-8909-7CA99DA6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8490"/>
            <a:ext cx="12192000" cy="48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6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76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07417D-4390-47FB-8241-920AB8FF35B9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2662543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73" imgH="473" progId="TCLayout.ActiveDocument.1">
                  <p:embed/>
                </p:oleObj>
              </mc:Choice>
              <mc:Fallback>
                <p:oleObj name="think-cell Slide" r:id="rId27" imgW="473" imgH="47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307417D-4390-47FB-8241-920AB8FF35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726320-E0B7-7640-8BBB-8A03F16C9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030" y="1409351"/>
            <a:ext cx="11263769" cy="4794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B5C93FF-DD22-8E4D-862B-78141598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4181"/>
            <a:ext cx="11263768" cy="783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AFF6-FD16-3845-8B29-902F19551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2219" y="63543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3CFF2ACC-FD0C-EC48-AB5A-532834D73BFD}" type="datetime2">
              <a:rPr lang="en-US" smtClean="0"/>
              <a:t>Wednesday, May 27, 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0EA08-21A3-7041-B72A-58E35719F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030" y="6352719"/>
            <a:ext cx="4930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AA2ACFE3-3434-6145-B87C-35D28FEFD6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8C3071-4316-8144-B81E-FFAC196B8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6861" y="6352719"/>
            <a:ext cx="2153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Confidential and Proprietary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624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717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>
          <p15:clr>
            <a:srgbClr val="F26B43"/>
          </p15:clr>
        </p15:guide>
        <p15:guide id="4" pos="768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>
          <p15:clr>
            <a:srgbClr val="F26B43"/>
          </p15:clr>
        </p15:guide>
        <p15:guide id="7" orient="horz" pos="4320">
          <p15:clr>
            <a:srgbClr val="F26B43"/>
          </p15:clr>
        </p15:guide>
        <p15:guide id="8" pos="288">
          <p15:clr>
            <a:srgbClr val="F26B43"/>
          </p15:clr>
        </p15:guide>
        <p15:guide id="9" pos="7392">
          <p15:clr>
            <a:srgbClr val="F26B43"/>
          </p15:clr>
        </p15:guide>
        <p15:guide id="10" orient="horz" pos="288">
          <p15:clr>
            <a:srgbClr val="F26B43"/>
          </p15:clr>
        </p15:guide>
        <p15:guide id="11" orient="horz" pos="4056">
          <p15:clr>
            <a:srgbClr val="F26B43"/>
          </p15:clr>
        </p15:guide>
        <p15:guide id="12" pos="2040">
          <p15:clr>
            <a:srgbClr val="F26B43"/>
          </p15:clr>
        </p15:guide>
        <p15:guide id="13" pos="5592">
          <p15:clr>
            <a:srgbClr val="F26B43"/>
          </p15:clr>
        </p15:guide>
        <p15:guide id="14" orient="horz" pos="41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BOSTON TECHWEEK   ·   MAY 28,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28716" y="2286000"/>
            <a:ext cx="731520" cy="4572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Scientific Discovery Hackathon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one-day competition in autonomous research.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agents that hypothesize, experiment, and write.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HOSTED BY FLAGSHIP PIONEERING   ·   PIONEERING INTELLIGENCE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0120-34C8-F7DE-8383-8AA442DDF5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97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is Pioneering Intelligence?</a:t>
            </a:r>
            <a:endParaRPr lang="en-US" sz="28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72BA1DA9-CB07-96DA-C38E-5E8C37E130C5}"/>
              </a:ext>
            </a:extLst>
          </p:cNvPr>
          <p:cNvSpPr/>
          <p:nvPr/>
        </p:nvSpPr>
        <p:spPr>
          <a:xfrm>
            <a:off x="1956881" y="2009396"/>
            <a:ext cx="82782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builds trusted AI systems that accelerate Flagship's science and company creation by turning frontier AI into reliable products.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1C6B4B6-1E2A-0FD9-2ABA-14368E612483}"/>
              </a:ext>
            </a:extLst>
          </p:cNvPr>
          <p:cNvSpPr/>
          <p:nvPr/>
        </p:nvSpPr>
        <p:spPr>
          <a:xfrm>
            <a:off x="457200" y="3442717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t</a:t>
            </a:r>
            <a:r>
              <a:rPr lang="en-US" sz="18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hree principles</a:t>
            </a:r>
            <a:endParaRPr lang="en-US" sz="18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A4E51FD6-1265-93C0-C37C-EFEC30BE281A}"/>
              </a:ext>
            </a:extLst>
          </p:cNvPr>
          <p:cNvSpPr/>
          <p:nvPr/>
        </p:nvSpPr>
        <p:spPr>
          <a:xfrm>
            <a:off x="457200" y="3991357"/>
            <a:ext cx="356616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D097265-22D3-9C72-3FC8-8AED75F89842}"/>
              </a:ext>
            </a:extLst>
          </p:cNvPr>
          <p:cNvSpPr/>
          <p:nvPr/>
        </p:nvSpPr>
        <p:spPr>
          <a:xfrm>
            <a:off x="457200" y="3991357"/>
            <a:ext cx="3566160" cy="109728"/>
          </a:xfrm>
          <a:prstGeom prst="rect">
            <a:avLst/>
          </a:prstGeom>
          <a:solidFill>
            <a:srgbClr val="A1A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40B7C4A-93B4-73E0-CF1E-1F34F1F69B16}"/>
              </a:ext>
            </a:extLst>
          </p:cNvPr>
          <p:cNvSpPr/>
          <p:nvPr/>
        </p:nvSpPr>
        <p:spPr>
          <a:xfrm>
            <a:off x="457200" y="417423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</a:t>
            </a:r>
            <a:endParaRPr lang="en-US" sz="22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9F9D8211-CA83-4A92-DA60-16B17A7BCB40}"/>
              </a:ext>
            </a:extLst>
          </p:cNvPr>
          <p:cNvSpPr/>
          <p:nvPr/>
        </p:nvSpPr>
        <p:spPr>
          <a:xfrm>
            <a:off x="640080" y="463143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Product-grade AI: tools, platforms, models</a:t>
            </a:r>
            <a:endParaRPr lang="en-US" sz="120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1F8DCE01-E384-1696-8F2A-07920A426ABF}"/>
              </a:ext>
            </a:extLst>
          </p:cNvPr>
          <p:cNvSpPr/>
          <p:nvPr/>
        </p:nvSpPr>
        <p:spPr>
          <a:xfrm>
            <a:off x="4297680" y="3991357"/>
            <a:ext cx="356616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C943A46A-1531-C081-0611-DCA93138B3A7}"/>
              </a:ext>
            </a:extLst>
          </p:cNvPr>
          <p:cNvSpPr/>
          <p:nvPr/>
        </p:nvSpPr>
        <p:spPr>
          <a:xfrm>
            <a:off x="4297680" y="3991357"/>
            <a:ext cx="3566160" cy="109728"/>
          </a:xfrm>
          <a:prstGeom prst="rect">
            <a:avLst/>
          </a:prstGeom>
          <a:solidFill>
            <a:srgbClr val="688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94FDFFBF-CEC5-35E5-049A-B4A77C8FB3C4}"/>
              </a:ext>
            </a:extLst>
          </p:cNvPr>
          <p:cNvSpPr/>
          <p:nvPr/>
        </p:nvSpPr>
        <p:spPr>
          <a:xfrm>
            <a:off x="4297680" y="417423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8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</a:t>
            </a:r>
            <a:endParaRPr lang="en-US" sz="22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0349064D-C170-2DA0-6371-93935B55F075}"/>
              </a:ext>
            </a:extLst>
          </p:cNvPr>
          <p:cNvSpPr/>
          <p:nvPr/>
        </p:nvSpPr>
        <p:spPr>
          <a:xfrm>
            <a:off x="4480560" y="463143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Rigorous evaluation, reliability, decision support</a:t>
            </a:r>
            <a:endParaRPr lang="en-US" sz="1200" dirty="0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5A08D9D7-96B2-697A-58A1-3122E672D90B}"/>
              </a:ext>
            </a:extLst>
          </p:cNvPr>
          <p:cNvSpPr/>
          <p:nvPr/>
        </p:nvSpPr>
        <p:spPr>
          <a:xfrm>
            <a:off x="8138160" y="3991357"/>
            <a:ext cx="356616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858AA908-8C0E-6DFA-0FCF-0E19F4EAFB55}"/>
              </a:ext>
            </a:extLst>
          </p:cNvPr>
          <p:cNvSpPr/>
          <p:nvPr/>
        </p:nvSpPr>
        <p:spPr>
          <a:xfrm>
            <a:off x="8138160" y="3991357"/>
            <a:ext cx="3566160" cy="109728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6ED5951F-0801-8C54-D95C-67A50277FAE4}"/>
              </a:ext>
            </a:extLst>
          </p:cNvPr>
          <p:cNvSpPr/>
          <p:nvPr/>
        </p:nvSpPr>
        <p:spPr>
          <a:xfrm>
            <a:off x="8138160" y="4174237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</a:t>
            </a:r>
            <a:endParaRPr lang="en-US" sz="22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C3F6DE9B-B086-4655-4595-2A0896A2B9D7}"/>
              </a:ext>
            </a:extLst>
          </p:cNvPr>
          <p:cNvSpPr/>
          <p:nvPr/>
        </p:nvSpPr>
        <p:spPr>
          <a:xfrm>
            <a:off x="8321040" y="4631437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latin typeface="Helvetica" pitchFamily="34" charset="0"/>
                <a:ea typeface="Helvetica" pitchFamily="34" charset="-122"/>
                <a:cs typeface="Helvetica" pitchFamily="34" charset="-120"/>
              </a:rPr>
              <a:t>Adoption across Flagship and beyond</a:t>
            </a:r>
            <a:endParaRPr lang="en-US" sz="1200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A7C2BA2-8352-B68C-79E2-0C5E7BDDF367}"/>
              </a:ext>
            </a:extLst>
          </p:cNvPr>
          <p:cNvSpPr/>
          <p:nvPr/>
        </p:nvSpPr>
        <p:spPr>
          <a:xfrm>
            <a:off x="1956881" y="1781768"/>
            <a:ext cx="8208523" cy="1157592"/>
          </a:xfrm>
          <a:prstGeom prst="roundRect">
            <a:avLst/>
          </a:prstGeom>
          <a:noFill/>
          <a:ln>
            <a:solidFill>
              <a:srgbClr val="43AA8B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1B4EC-BEF7-5C2C-2423-5406050148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BF54-0C1F-68C1-039F-DDC14EB6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4F69A0-1701-6CC5-4577-390D28773165}"/>
              </a:ext>
            </a:extLst>
          </p:cNvPr>
          <p:cNvSpPr/>
          <p:nvPr/>
        </p:nvSpPr>
        <p:spPr>
          <a:xfrm>
            <a:off x="457200" y="4297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builds across four pillars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41DAF87-89D8-4549-56A3-E277DD7ACCEC}"/>
              </a:ext>
            </a:extLst>
          </p:cNvPr>
          <p:cNvSpPr/>
          <p:nvPr/>
        </p:nvSpPr>
        <p:spPr>
          <a:xfrm>
            <a:off x="457200" y="1563624"/>
            <a:ext cx="5486400" cy="1965960"/>
          </a:xfrm>
          <a:prstGeom prst="rect">
            <a:avLst/>
          </a:prstGeom>
          <a:solidFill>
            <a:srgbClr val="254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AF4DF0-4E5B-D1EC-232E-5ED10B426C8E}"/>
              </a:ext>
            </a:extLst>
          </p:cNvPr>
          <p:cNvSpPr/>
          <p:nvPr/>
        </p:nvSpPr>
        <p:spPr>
          <a:xfrm>
            <a:off x="457200" y="1563624"/>
            <a:ext cx="164592" cy="1965960"/>
          </a:xfrm>
          <a:prstGeom prst="rect">
            <a:avLst/>
          </a:prstGeom>
          <a:solidFill>
            <a:srgbClr val="A1A9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44407D-C3E5-86E5-85AF-05AD14B11FAD}"/>
              </a:ext>
            </a:extLst>
          </p:cNvPr>
          <p:cNvSpPr/>
          <p:nvPr/>
        </p:nvSpPr>
        <p:spPr>
          <a:xfrm>
            <a:off x="777240" y="1746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for Structural Biology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D875EA-10D4-F2EF-83C6-5D8FD36FA5A7}"/>
              </a:ext>
            </a:extLst>
          </p:cNvPr>
          <p:cNvSpPr/>
          <p:nvPr/>
        </p:nvSpPr>
        <p:spPr>
          <a:xfrm>
            <a:off x="777240" y="224942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Predict, generate, and interpret biomolecular structures — proteins, RNA, small molecules, complexes — at full atomic resolution and longer sequences, with interpretable reasoning.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E28CD93-5D05-54FE-1F01-3242CF99B6F4}"/>
              </a:ext>
            </a:extLst>
          </p:cNvPr>
          <p:cNvSpPr/>
          <p:nvPr/>
        </p:nvSpPr>
        <p:spPr>
          <a:xfrm>
            <a:off x="6309360" y="1563624"/>
            <a:ext cx="5486400" cy="1965960"/>
          </a:xfrm>
          <a:prstGeom prst="rect">
            <a:avLst/>
          </a:prstGeom>
          <a:solidFill>
            <a:srgbClr val="254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B83B4EA-114E-E5DB-B124-9236D61DB25B}"/>
              </a:ext>
            </a:extLst>
          </p:cNvPr>
          <p:cNvSpPr/>
          <p:nvPr/>
        </p:nvSpPr>
        <p:spPr>
          <a:xfrm>
            <a:off x="6309360" y="1563624"/>
            <a:ext cx="164592" cy="1965960"/>
          </a:xfrm>
          <a:prstGeom prst="rect">
            <a:avLst/>
          </a:prstGeom>
          <a:solidFill>
            <a:srgbClr val="688E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E82642A-D395-5E04-2F3F-97AF73871D59}"/>
              </a:ext>
            </a:extLst>
          </p:cNvPr>
          <p:cNvSpPr/>
          <p:nvPr/>
        </p:nvSpPr>
        <p:spPr>
          <a:xfrm>
            <a:off x="6629400" y="1746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8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Agentic AI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E97F26-A604-E810-549F-81B4F4942B16}"/>
              </a:ext>
            </a:extLst>
          </p:cNvPr>
          <p:cNvSpPr/>
          <p:nvPr/>
        </p:nvSpPr>
        <p:spPr>
          <a:xfrm>
            <a:off x="6629400" y="224942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Reasoning systems that explore beyond their comfort zone: diverse-tree reasoning, retrieval over heterogeneous scientific data, scaffolding for autonomous scientific workflows.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2210696-AE60-BF37-70B9-A4582E273525}"/>
              </a:ext>
            </a:extLst>
          </p:cNvPr>
          <p:cNvSpPr/>
          <p:nvPr/>
        </p:nvSpPr>
        <p:spPr>
          <a:xfrm>
            <a:off x="457200" y="3758184"/>
            <a:ext cx="5486400" cy="1965960"/>
          </a:xfrm>
          <a:prstGeom prst="rect">
            <a:avLst/>
          </a:prstGeom>
          <a:solidFill>
            <a:srgbClr val="254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7BD9D5B-06B9-83AE-7A28-7B951BF8FA32}"/>
              </a:ext>
            </a:extLst>
          </p:cNvPr>
          <p:cNvSpPr/>
          <p:nvPr/>
        </p:nvSpPr>
        <p:spPr>
          <a:xfrm>
            <a:off x="457200" y="3758184"/>
            <a:ext cx="164592" cy="1965960"/>
          </a:xfrm>
          <a:prstGeom prst="rect">
            <a:avLst/>
          </a:prstGeom>
          <a:solidFill>
            <a:srgbClr val="43AA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EF0B6E-3996-80C7-FBF7-D4603C7C9DB9}"/>
              </a:ext>
            </a:extLst>
          </p:cNvPr>
          <p:cNvSpPr/>
          <p:nvPr/>
        </p:nvSpPr>
        <p:spPr>
          <a:xfrm>
            <a:off x="777240" y="3941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Mechanistic Modeling</a:t>
            </a:r>
            <a:endParaRPr lang="en-US" sz="17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E5BA5A5-7B78-6401-EB3E-A94409D66526}"/>
              </a:ext>
            </a:extLst>
          </p:cNvPr>
          <p:cNvSpPr/>
          <p:nvPr/>
        </p:nvSpPr>
        <p:spPr>
          <a:xfrm>
            <a:off x="777240" y="444398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Automatically generate, simulate, and compose causal models of biology — turning literature and experiments into mathematical representations.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F8787CC-4CD9-06AB-5DF7-9B37FDE166A9}"/>
              </a:ext>
            </a:extLst>
          </p:cNvPr>
          <p:cNvSpPr/>
          <p:nvPr/>
        </p:nvSpPr>
        <p:spPr>
          <a:xfrm>
            <a:off x="6309360" y="3758184"/>
            <a:ext cx="5486400" cy="1965960"/>
          </a:xfrm>
          <a:prstGeom prst="rect">
            <a:avLst/>
          </a:prstGeom>
          <a:solidFill>
            <a:srgbClr val="254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06C39E8-DB21-B1EB-B619-462FE0FECC38}"/>
              </a:ext>
            </a:extLst>
          </p:cNvPr>
          <p:cNvSpPr/>
          <p:nvPr/>
        </p:nvSpPr>
        <p:spPr>
          <a:xfrm>
            <a:off x="6309360" y="3758184"/>
            <a:ext cx="164592" cy="1965960"/>
          </a:xfrm>
          <a:prstGeom prst="rect">
            <a:avLst/>
          </a:prstGeom>
          <a:solidFill>
            <a:srgbClr val="B2B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BDBB014-74A1-DF28-8B41-B6C340857D2E}"/>
              </a:ext>
            </a:extLst>
          </p:cNvPr>
          <p:cNvSpPr/>
          <p:nvPr/>
        </p:nvSpPr>
        <p:spPr>
          <a:xfrm>
            <a:off x="6629400" y="3941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2B09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Exchange</a:t>
            </a:r>
            <a:endParaRPr lang="en-US" sz="17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A268D20-035A-1500-E6D7-05706E7E6EF2}"/>
              </a:ext>
            </a:extLst>
          </p:cNvPr>
          <p:cNvSpPr/>
          <p:nvPr/>
        </p:nvSpPr>
        <p:spPr>
          <a:xfrm>
            <a:off x="6629400" y="444398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 unifying genomics, proteomics, imaging, etc. with AI-native search, semantic understanding, and governance for both humans and agents.</a:t>
            </a:r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AD253-407F-905B-9CF0-FE5D52B578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55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WE'RE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hard problem of autonomous science.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can summarize the literature. It can run code. It can write bad prose. </a:t>
            </a:r>
          </a:p>
          <a:p>
            <a:pPr marL="0" indent="0">
              <a:spcAft>
                <a:spcPts val="800"/>
              </a:spcAft>
              <a:buNone/>
            </a:pPr>
            <a:endParaRPr lang="en-US" dirty="0">
              <a:solidFill>
                <a:srgbClr val="FFFFFF"/>
              </a:solidFill>
              <a:latin typeface="Helvetica" pitchFamily="34" charset="0"/>
              <a:ea typeface="Helvetica" pitchFamily="34" charset="-122"/>
              <a:cs typeface="Helvetica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 generating real scientific hypotheses remains an open problem.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Today, we put that problem in front of you.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73152" cy="114300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83880" y="1691640"/>
            <a:ext cx="15592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≤10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9898538" y="1691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017520"/>
            <a:ext cx="73152" cy="114300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83880" y="30175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A1A9ED"/>
                </a:solidFill>
                <a:latin typeface="Helvetica" pitchFamily="34" charset="0"/>
              </a:rPr>
              <a:t>7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9898538" y="30175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REVIEWERS IN THE SOCIETY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4343400"/>
            <a:ext cx="73152" cy="114300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83880" y="43434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9898538" y="43434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ROUNDS OF FEEDBACK</a:t>
            </a:r>
            <a:endParaRPr lang="en-US" sz="1100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7A056CF-1039-A45B-D234-30834846C6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mission today: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“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1737360" y="210312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autonomous agents that generate scientific papers by advancing and improving existing research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737360" y="5074920"/>
            <a:ext cx="457200" cy="36576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PROMPT. EVERY TEAM.</a:t>
            </a:r>
            <a:endParaRPr lang="en-US" sz="11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DEE5D9-DC72-EEE6-B273-96FE72845D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THIS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actors. One closed loop.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5196" y="182880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" y="1883664"/>
            <a:ext cx="3657600" cy="40599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2860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76756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" y="31089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Builds the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society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0956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reviewers with diverse personas and rubrics. Built ahead of time. The same society scores every team.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65676" y="182880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65676" y="1883664"/>
            <a:ext cx="3657600" cy="40599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22860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7236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31436" y="31089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writers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4631436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agents that hypothesize, experiment, cite prior work, and write papers. Post your pre-prints to the ‘</a:t>
            </a:r>
            <a:r>
              <a:rPr lang="en-US" sz="1400" dirty="0" err="1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arXiv</a:t>
            </a: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’ and then submit for review.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106156" y="182880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06156" y="1883664"/>
            <a:ext cx="3657600" cy="40599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228600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57716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SOCIETY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71916" y="31089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Reviews,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black-boxed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8471916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see scores and feedback. You don't see who any reviewer is, or what they value.</a:t>
            </a:r>
            <a:endParaRPr lang="en-US" sz="14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4F774443-86E5-1EBC-3187-B4E7AA1EA9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REVIEW SOCIETY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Seven reviewers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agents’ papers will be reviewed by a society of anonymous reviewers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307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1747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1747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endParaRPr lang="en-US" sz="4800" dirty="0">
              <a:solidFill>
                <a:srgbClr val="43AA8B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69379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0819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0819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</a:t>
            </a:r>
            <a:endParaRPr lang="en-US" sz="4800" dirty="0">
              <a:solidFill>
                <a:srgbClr val="43AA8B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588451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79891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79891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endParaRPr lang="en-US" sz="4800" dirty="0">
              <a:solidFill>
                <a:srgbClr val="43AA8B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07523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8963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8963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</a:t>
            </a:r>
            <a:endParaRPr lang="en-US" sz="4800" dirty="0">
              <a:solidFill>
                <a:srgbClr val="43AA8B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026595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8035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8035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3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</a:t>
            </a:r>
            <a:endParaRPr lang="en-US" sz="4800" dirty="0">
              <a:solidFill>
                <a:srgbClr val="43AA8B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745667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37107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37107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457200" y="474573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paper is scored on:  Technical Quality   ·   Novelty   ·   Clarity   ·   Significance</a:t>
            </a:r>
          </a:p>
          <a:p>
            <a:pPr marL="0" indent="0" algn="ctr">
              <a:buNone/>
            </a:pPr>
            <a:endParaRPr lang="en-US" b="1" dirty="0">
              <a:solidFill>
                <a:srgbClr val="698EC6"/>
              </a:solidFill>
              <a:latin typeface="Helvetica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The final score is a composite of </a:t>
            </a:r>
            <a:r>
              <a:rPr lang="en-US" b="1" dirty="0">
                <a:solidFill>
                  <a:srgbClr val="42AA8B"/>
                </a:solidFill>
              </a:rPr>
              <a:t>paper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b="1" dirty="0">
                <a:solidFill>
                  <a:srgbClr val="A1A9EE"/>
                </a:solidFill>
              </a:rPr>
              <a:t>code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, and </a:t>
            </a:r>
            <a:r>
              <a:rPr lang="en-US" b="1" dirty="0">
                <a:solidFill>
                  <a:srgbClr val="698EC6"/>
                </a:solidFill>
              </a:rPr>
              <a:t>extension*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scores</a:t>
            </a: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E3055C26-8010-BE3C-DCE1-20D1C25D1089}"/>
              </a:ext>
            </a:extLst>
          </p:cNvPr>
          <p:cNvSpPr/>
          <p:nvPr/>
        </p:nvSpPr>
        <p:spPr>
          <a:xfrm>
            <a:off x="7495767" y="6286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68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*more on this in a sec</a:t>
            </a:r>
            <a:endParaRPr lang="en-US" sz="1700" dirty="0"/>
          </a:p>
        </p:txBody>
      </p:sp>
      <p:sp>
        <p:nvSpPr>
          <p:cNvPr id="6" name="Shape 22">
            <a:extLst>
              <a:ext uri="{FF2B5EF4-FFF2-40B4-BE49-F238E27FC236}">
                <a16:creationId xmlns:a16="http://schemas.microsoft.com/office/drawing/2014/main" id="{825C2966-58AE-613B-CA27-957F419B8177}"/>
              </a:ext>
            </a:extLst>
          </p:cNvPr>
          <p:cNvSpPr/>
          <p:nvPr/>
        </p:nvSpPr>
        <p:spPr>
          <a:xfrm>
            <a:off x="10464739" y="2606040"/>
            <a:ext cx="1554480" cy="137160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D5124013-FCF4-0204-B18A-B2FFAB00F685}"/>
              </a:ext>
            </a:extLst>
          </p:cNvPr>
          <p:cNvSpPr/>
          <p:nvPr/>
        </p:nvSpPr>
        <p:spPr>
          <a:xfrm>
            <a:off x="10556179" y="2770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</a:t>
            </a:r>
            <a:endParaRPr lang="en-US" sz="9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A9E22A3-F4E7-8E7E-5CBA-BA12BACE9B03}"/>
              </a:ext>
            </a:extLst>
          </p:cNvPr>
          <p:cNvSpPr/>
          <p:nvPr/>
        </p:nvSpPr>
        <p:spPr>
          <a:xfrm>
            <a:off x="10556179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98EC6"/>
                </a:solidFill>
                <a:latin typeface="Helvetica" pitchFamily="34" charset="0"/>
              </a:rPr>
              <a:t>G</a:t>
            </a:r>
            <a:endParaRPr lang="en-US" sz="4800" dirty="0">
              <a:solidFill>
                <a:srgbClr val="698EC6"/>
              </a:solidFill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779AC8DC-43BA-A3CF-4B6D-DB60D612B2D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67C12-4056-0E96-CCD3-2CA19B9D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261EC7-B237-612E-E37C-556D9ADAC954}"/>
              </a:ext>
            </a:extLst>
          </p:cNvPr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4FA79A-AF3A-1D11-E70F-840BEE9F39BA}"/>
              </a:ext>
            </a:extLst>
          </p:cNvPr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SEED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F58604-AF49-FFC3-A9ED-EE92D21E1CBB}"/>
              </a:ext>
            </a:extLst>
          </p:cNvPr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Instead of starting from scratch, we’ll improve on an existing paper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FB8CB0-EC8D-4CF8-4AF2-7ECDC9F13D3C}"/>
              </a:ext>
            </a:extLst>
          </p:cNvPr>
          <p:cNvSpPr/>
          <p:nvPr/>
        </p:nvSpPr>
        <p:spPr>
          <a:xfrm>
            <a:off x="457200" y="184649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PI’s Flow-of-Options (FoO) paper (ICML 2025) will serve as the seed and basis for your papers’ </a:t>
            </a:r>
            <a:r>
              <a:rPr lang="en-US" sz="1600" b="1" i="1" dirty="0">
                <a:solidFill>
                  <a:srgbClr val="69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extension</a:t>
            </a: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score</a:t>
            </a:r>
            <a:endParaRPr lang="en-US" sz="16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0E681B-EF76-4E25-1FC5-C939AA055BB0}"/>
              </a:ext>
            </a:extLst>
          </p:cNvPr>
          <p:cNvGrpSpPr/>
          <p:nvPr/>
        </p:nvGrpSpPr>
        <p:grpSpPr>
          <a:xfrm>
            <a:off x="2843453" y="2298008"/>
            <a:ext cx="6566053" cy="4130224"/>
            <a:chOff x="2963537" y="2544896"/>
            <a:chExt cx="6566053" cy="4130224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A07186F-C115-BDD6-C6F3-47C162E14DEA}"/>
                </a:ext>
              </a:extLst>
            </p:cNvPr>
            <p:cNvSpPr/>
            <p:nvPr/>
          </p:nvSpPr>
          <p:spPr>
            <a:xfrm>
              <a:off x="2963537" y="2544896"/>
              <a:ext cx="6566053" cy="4130224"/>
            </a:xfrm>
            <a:prstGeom prst="roundRect">
              <a:avLst>
                <a:gd name="adj" fmla="val 466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E195BE9-778D-8840-D7F2-08127957D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1313" y="4031912"/>
              <a:ext cx="4499641" cy="264320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E7948D8-2A9C-1B15-55EF-EAB90E6C4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85556" y="2732032"/>
              <a:ext cx="6251154" cy="1470860"/>
            </a:xfrm>
            <a:prstGeom prst="rect">
              <a:avLst/>
            </a:prstGeom>
          </p:spPr>
        </p:pic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5A92110-CA09-2F07-7A86-BAFC5CC536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90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Today’s Schedule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9:00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1911096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178308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Arrivals, breakfast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9:30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88920" y="2295144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21671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Opening: prompt, format, scoring, tech setup, team 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10:00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88920" y="2679192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25511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block 1 (90 min)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11:30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88920" y="3063240"/>
            <a:ext cx="128016" cy="128016"/>
          </a:xfrm>
          <a:prstGeom prst="ellipse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54680" y="293522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 1 submission → society reviews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12:00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88920" y="3447288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54680" y="331927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Lunch · Round 1 scores released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1:00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88920" y="3831336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370332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block 2 (60 min)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2:00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88920" y="4215384"/>
            <a:ext cx="128016" cy="128016"/>
          </a:xfrm>
          <a:prstGeom prst="ellipse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54680" y="40873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 2 submission → society reviews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2:15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88920" y="4599432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54680" y="447141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block 3 (45 min) · Round 2 scores released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4855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3:00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88920" y="4983480"/>
            <a:ext cx="128016" cy="128016"/>
          </a:xfrm>
          <a:prstGeom prst="ellipse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54680" y="48554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 3 submission → society reviews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71600" y="5239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3:15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788920" y="5367528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54680" y="52395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scores · lightning talks (top 3)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71600" y="5623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3:45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88920" y="5751576"/>
            <a:ext cx="128016" cy="128016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54680" y="562356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Winners + closing</a:t>
            </a:r>
            <a:endParaRPr lang="en-US" sz="1600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D286D91-4601-7F08-616E-C6A35297C3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</a:rPr>
              <a:t>Please form teams of 4-5 people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25196" y="2468880"/>
            <a:ext cx="3657600" cy="207661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2480" y="29809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Discuss your approach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65676" y="2468880"/>
            <a:ext cx="3657600" cy="207661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2960" y="29809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new friends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06156" y="2468880"/>
            <a:ext cx="3657600" cy="207661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3440" y="29809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team members can join teams</a:t>
            </a:r>
            <a:endParaRPr lang="en-US" sz="2400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1778FAF-5223-3C0C-F4E5-862946E78C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A6055-FBA6-6D99-DFED-4A8D1358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15134B-788C-1DDB-A891-16328C0C92E1}"/>
              </a:ext>
            </a:extLst>
          </p:cNvPr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519644-FDC3-35BC-B31F-455946DD7CA4}"/>
              </a:ext>
            </a:extLst>
          </p:cNvPr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SUBMISSION WORKS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0385A3-87EF-23C3-9DF6-912F9FF90009}"/>
              </a:ext>
            </a:extLst>
          </p:cNvPr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as many preprints as you’d like. Then submit your best three papers for review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25E32D-4560-9E13-26E6-DA15D528FB04}"/>
              </a:ext>
            </a:extLst>
          </p:cNvPr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top paper across the day is what counts.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CEC6B1-BF00-B34E-64AD-3F677F0C07B9}"/>
              </a:ext>
            </a:extLst>
          </p:cNvPr>
          <p:cNvSpPr/>
          <p:nvPr/>
        </p:nvSpPr>
        <p:spPr>
          <a:xfrm>
            <a:off x="425196" y="2468880"/>
            <a:ext cx="3657600" cy="31089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A0057D-6921-ABB3-EE26-4E4542F63951}"/>
              </a:ext>
            </a:extLst>
          </p:cNvPr>
          <p:cNvSpPr/>
          <p:nvPr/>
        </p:nvSpPr>
        <p:spPr>
          <a:xfrm>
            <a:off x="790956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2D83C5-F449-E95B-7EAB-5AF562B59459}"/>
              </a:ext>
            </a:extLst>
          </p:cNvPr>
          <p:cNvSpPr/>
          <p:nvPr/>
        </p:nvSpPr>
        <p:spPr>
          <a:xfrm>
            <a:off x="790956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75D6301-F8E5-1F3B-89B1-8501215A821C}"/>
              </a:ext>
            </a:extLst>
          </p:cNvPr>
          <p:cNvSpPr/>
          <p:nvPr/>
        </p:nvSpPr>
        <p:spPr>
          <a:xfrm>
            <a:off x="790956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Run agents produce papers throughout each build block.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1F97CFD-D993-5633-48BF-DBC7FEBADBE6}"/>
              </a:ext>
            </a:extLst>
          </p:cNvPr>
          <p:cNvSpPr/>
          <p:nvPr/>
        </p:nvSpPr>
        <p:spPr>
          <a:xfrm>
            <a:off x="4265676" y="2468880"/>
            <a:ext cx="3657600" cy="31089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A208A6E-D7D4-8D6D-1E2B-50E2B8379C2A}"/>
              </a:ext>
            </a:extLst>
          </p:cNvPr>
          <p:cNvSpPr/>
          <p:nvPr/>
        </p:nvSpPr>
        <p:spPr>
          <a:xfrm>
            <a:off x="4631436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51C013-7715-A110-9CAC-7A4904D83238}"/>
              </a:ext>
            </a:extLst>
          </p:cNvPr>
          <p:cNvSpPr/>
          <p:nvPr/>
        </p:nvSpPr>
        <p:spPr>
          <a:xfrm>
            <a:off x="4631436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and Submit</a:t>
            </a:r>
            <a:endParaRPr lang="en-US" sz="2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E1C181A-9635-F3FD-FDB3-FF86CC83CA3F}"/>
              </a:ext>
            </a:extLst>
          </p:cNvPr>
          <p:cNvSpPr/>
          <p:nvPr/>
        </p:nvSpPr>
        <p:spPr>
          <a:xfrm>
            <a:off x="4631436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up to 1000 papers per round. Submit up to 3 for review per round.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519833B-0B81-34BE-C99B-29F2CB4F4D3B}"/>
              </a:ext>
            </a:extLst>
          </p:cNvPr>
          <p:cNvSpPr/>
          <p:nvPr/>
        </p:nvSpPr>
        <p:spPr>
          <a:xfrm>
            <a:off x="8106156" y="2468880"/>
            <a:ext cx="3657600" cy="31089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1922EAC-B4E6-2517-E47F-2545E2416534}"/>
              </a:ext>
            </a:extLst>
          </p:cNvPr>
          <p:cNvSpPr/>
          <p:nvPr/>
        </p:nvSpPr>
        <p:spPr>
          <a:xfrm>
            <a:off x="8471916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119EF65-893B-A506-9FBC-1F5D491EC358}"/>
              </a:ext>
            </a:extLst>
          </p:cNvPr>
          <p:cNvSpPr/>
          <p:nvPr/>
        </p:nvSpPr>
        <p:spPr>
          <a:xfrm>
            <a:off x="8471916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Iterate</a:t>
            </a:r>
            <a:endParaRPr lang="en-US" sz="2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F832C9-C25C-D267-EE27-EB5ED5068086}"/>
              </a:ext>
            </a:extLst>
          </p:cNvPr>
          <p:cNvSpPr/>
          <p:nvPr/>
        </p:nvSpPr>
        <p:spPr>
          <a:xfrm>
            <a:off x="8471916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society scores return in ~10–15 minutes. Use them in the next block.</a:t>
            </a:r>
            <a:endParaRPr lang="en-US" sz="1400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02B257F-58DF-2B8C-2136-CD3444D6E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69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YOU'RE SCORED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scoring formula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score </a:t>
            </a:r>
            <a:r>
              <a:rPr lang="en-US" sz="2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×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0.4 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</a:t>
            </a:r>
            <a:r>
              <a:rPr lang="en-US" sz="2400" dirty="0">
                <a:solidFill>
                  <a:srgbClr val="42A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score </a:t>
            </a:r>
            <a:r>
              <a:rPr lang="en-US" sz="2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0.3 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</a:t>
            </a:r>
            <a:r>
              <a:rPr lang="en-US" sz="2400" dirty="0">
                <a:solidFill>
                  <a:srgbClr val="69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extension score</a:t>
            </a:r>
            <a:r>
              <a:rPr lang="en-US" sz="2400" b="1" dirty="0">
                <a:solidFill>
                  <a:srgbClr val="698E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0.3 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</a:t>
            </a:r>
            <a:r>
              <a:rPr lang="en-US" sz="2400" dirty="0">
                <a:solidFill>
                  <a:srgbClr val="A1A9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score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) </a:t>
            </a:r>
            <a:r>
              <a:rPr lang="en-US" sz="24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</a:t>
            </a: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0.2 </a:t>
            </a: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agent score 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08076" y="3657600"/>
            <a:ext cx="45719" cy="237744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228" y="3657600"/>
            <a:ext cx="3251200" cy="237744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3836" y="3977640"/>
            <a:ext cx="2955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score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73836" y="4526280"/>
            <a:ext cx="29556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Mean society score of your top paper across the day. Rewards both quality and iteration.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27728" y="3657600"/>
            <a:ext cx="45719" cy="237744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00880" y="3657600"/>
            <a:ext cx="3251200" cy="237744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3488" y="3977640"/>
            <a:ext cx="2955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 score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93488" y="4526280"/>
            <a:ext cx="27813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LLM judge evaluates your Run agent's design after Round 3: novelty, light-touch prompting, adaptability.</a:t>
            </a:r>
            <a:endParaRPr lang="en-US" sz="14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75CCFAD7-2366-418C-D339-98C9CB0751F0}"/>
              </a:ext>
            </a:extLst>
          </p:cNvPr>
          <p:cNvSpPr/>
          <p:nvPr/>
        </p:nvSpPr>
        <p:spPr>
          <a:xfrm>
            <a:off x="8259572" y="3657600"/>
            <a:ext cx="45719" cy="237744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3D41832-4D11-F927-9164-30E81E2641DC}"/>
              </a:ext>
            </a:extLst>
          </p:cNvPr>
          <p:cNvSpPr/>
          <p:nvPr/>
        </p:nvSpPr>
        <p:spPr>
          <a:xfrm>
            <a:off x="8332724" y="3657600"/>
            <a:ext cx="3251200" cy="237744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CE8173F-089D-AE20-12D1-BD07C3B1AC40}"/>
              </a:ext>
            </a:extLst>
          </p:cNvPr>
          <p:cNvSpPr/>
          <p:nvPr/>
        </p:nvSpPr>
        <p:spPr>
          <a:xfrm>
            <a:off x="8555136" y="3981591"/>
            <a:ext cx="29556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Extension + code score</a:t>
            </a:r>
            <a:endParaRPr lang="en-US" sz="20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E7EAEFC-21A3-6CAB-971F-BC531E472C5C}"/>
              </a:ext>
            </a:extLst>
          </p:cNvPr>
          <p:cNvSpPr/>
          <p:nvPr/>
        </p:nvSpPr>
        <p:spPr>
          <a:xfrm>
            <a:off x="8625332" y="4526280"/>
            <a:ext cx="2731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LLM judge evaluates your paper’s relation to the seed paper and relevant code quality. Non-sequiturs and poor code penalized</a:t>
            </a:r>
            <a:endParaRPr lang="en-US" sz="1400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BA223A4-6B29-EDEF-4413-8488377BA5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FEEDBACK YOU 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review, anonymized.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68580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6858000" cy="415137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 C  ·  ROUND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48256" y="26060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48256" y="32461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NOVELTY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3552" y="26060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73552" y="32461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98848" y="26060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498848" y="32461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SIGNIF.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24144" y="26060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724144" y="3246120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6126480" cy="0"/>
          </a:xfrm>
          <a:prstGeom prst="line">
            <a:avLst/>
          </a:prstGeom>
          <a:noFill/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88620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hypothesis is well-motivated and the experimental design is appropriate, but the comparison to prior work is thin — only two of the cited papers in the ecosystem are actually engaged with. Strengthen Section 3 by contrasting your approach with the Reviewer-D-cited result on...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YOU SEE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224028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Per-dimension scores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overall score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Written critique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 ID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YOU DON’T SEE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434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Reviewer personas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Rubric weights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prompts</a:t>
            </a:r>
            <a:endParaRPr lang="en-US" sz="1600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61F5AD8B-4733-C6C4-F0B8-8F9A505FB4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 AVAILABLE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your agents can call.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Extend or replace these as you need. The platform is yours.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" y="2468880"/>
            <a:ext cx="3657600" cy="178308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27889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5316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run_code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85316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(command, timeout=300)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5236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Execute bash inside an isolated container.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65676" y="2468880"/>
            <a:ext cx="3657600" cy="178308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27889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25796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search_web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25796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(query, max_results=10)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85716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background and prior art from the web.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06156" y="2468880"/>
            <a:ext cx="3657600" cy="178308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196" y="27889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6276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get_paper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066276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(paper_id, papers_dir)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26196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any paper in the ecosystem to cite or build on.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25196" y="4434840"/>
            <a:ext cx="3657600" cy="178308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7548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85316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get_review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385316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(review_id, reviews_dir)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5236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review feedback to inform the next iteration.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265676" y="4434840"/>
            <a:ext cx="3657600" cy="178308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716" y="475488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25796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call_llm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225796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9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(messages, model_id, tools=...)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85716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 any model in AWS Bedrock with tool support.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8106156" y="4434840"/>
            <a:ext cx="365760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A9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8106156" y="4617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</a:t>
            </a:r>
            <a:endParaRPr lang="en-US" sz="4800" dirty="0"/>
          </a:p>
        </p:txBody>
      </p:sp>
      <p:sp>
        <p:nvSpPr>
          <p:cNvPr id="36" name="Text 29"/>
          <p:cNvSpPr/>
          <p:nvPr/>
        </p:nvSpPr>
        <p:spPr>
          <a:xfrm>
            <a:off x="8106156" y="5486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YOUR OWN</a:t>
            </a:r>
            <a:endParaRPr lang="en-US" sz="1200" dirty="0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34A47D00-9BE6-9EFA-64CE-BF9CDBC665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Aim for these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10899648" cy="12801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on prior 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48716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that read other teams' papers, cite them, and contribute to a coherent body of work — not 30 disconnected one-shots.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73152" cy="128016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3310128"/>
            <a:ext cx="10899648" cy="12801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401568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2468880" y="35112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 to feedback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68880" y="3968496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Round 2 should look different from Round 1. Show that your agent uses reviews to reshape its approach, not just patch its prose.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73152" cy="128016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791456"/>
            <a:ext cx="10899648" cy="1280160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2468880" y="499262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Algorithmic novelty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68880" y="544982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ideas in your scaffolding — search, planning, hypothesis generation, falsification — beat heroic prompt engineering.</a:t>
            </a:r>
            <a:endParaRPr lang="en-US" sz="14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2F72FF7-AFA2-487C-B7A1-D12998AAFF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things not to do.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5196" y="201168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" y="2066544"/>
            <a:ext cx="3657600" cy="36027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0956" y="30632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try to deanonymize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0956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prompt-injection attempts to coerce reviewers into revealing their identity, persona, or weights. We can tell.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5676" y="201168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65676" y="2066544"/>
            <a:ext cx="3657600" cy="36027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1436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31436" y="30632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exploit reviewer IDs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31436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a pattern emerges ("Reviewer C always likes us"), you can adapt — but don't hard-code reviewer-specific tricks.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6156" y="2011680"/>
            <a:ext cx="36576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6156" y="2066544"/>
            <a:ext cx="3657600" cy="360273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71916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471916" y="30632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blow your budget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71916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agent can post up to 1000 papers per round. But you need to pick up to three to be reviewed</a:t>
            </a:r>
            <a:endParaRPr lang="en-US" sz="14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A761615-B469-00A0-487C-369D9F4392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54864" cy="292608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29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PRIZES &amp; RECOGNITION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We’ll have prizes for top three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823509" y="2103120"/>
            <a:ext cx="27432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3509" y="2157984"/>
            <a:ext cx="2743200" cy="305409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3509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1ST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97829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Grand Prize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97829" y="3886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Dinner with PI and Matt Davis, Sr. Partner, Flagship Pioneering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49589" y="2103120"/>
            <a:ext cx="27432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49589" y="2157984"/>
            <a:ext cx="2743200" cy="305409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49589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2ND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023909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Runner-Up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3909" y="3886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Gift certificate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5669" y="2103120"/>
            <a:ext cx="2743200" cy="54864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75669" y="2157984"/>
            <a:ext cx="2743200" cy="3054096"/>
          </a:xfrm>
          <a:prstGeom prst="rect">
            <a:avLst/>
          </a:prstGeom>
          <a:solidFill>
            <a:srgbClr val="000000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75669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3RD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949989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Third Place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49989" y="3886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E7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Gift certificate</a:t>
            </a:r>
            <a:endParaRPr lang="en-US" sz="13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EB9BB3B-0E3B-B007-0C59-D94445E5D5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728716" y="3977640"/>
            <a:ext cx="731520" cy="45720"/>
          </a:xfrm>
          <a:prstGeom prst="rect">
            <a:avLst/>
          </a:prstGeom>
          <a:solidFill>
            <a:srgbClr val="A1A9ED"/>
          </a:solidFill>
          <a:ln w="12700">
            <a:solidFill>
              <a:srgbClr val="A1A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Then build something we haven't seen before.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A1A9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HOSTED BY FLAGSHIP PIONEERING   ·   PIONEERING INTELLIGENCE</a:t>
            </a:r>
            <a:endParaRPr lang="en-US" sz="11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1B34AC-6262-3D13-D1F9-85B8B655F6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A2ACFE3-3434-6145-B87C-35D28FEFD64A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i_theme">
  <a:themeElements>
    <a:clrScheme name="FP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D95"/>
      </a:accent1>
      <a:accent2>
        <a:srgbClr val="CD2026"/>
      </a:accent2>
      <a:accent3>
        <a:srgbClr val="A5A5A5"/>
      </a:accent3>
      <a:accent4>
        <a:srgbClr val="F5BE2C"/>
      </a:accent4>
      <a:accent5>
        <a:srgbClr val="BADCE6"/>
      </a:accent5>
      <a:accent6>
        <a:srgbClr val="00A651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_theme" id="{4C23C794-F820-4342-A9B7-A7C29011E563}" vid="{32996272-7963-3B45-B436-88B4DF57D4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pi_theme</Template>
  <TotalTime>6461</TotalTime>
  <Words>1257</Words>
  <Application>Microsoft Macintosh PowerPoint</Application>
  <PresentationFormat>Widescreen</PresentationFormat>
  <Paragraphs>243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</vt:lpstr>
      <vt:lpstr>Consolas</vt:lpstr>
      <vt:lpstr>Helvetica</vt:lpstr>
      <vt:lpstr>pi_theme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Hackathon: Scientific Discovery</dc:title>
  <dc:subject>PptxGenJS Presentation</dc:subject>
  <dc:creator>Grigori Guitchounts</dc:creator>
  <cp:lastModifiedBy>Grigori Guitchounts</cp:lastModifiedBy>
  <cp:revision>34</cp:revision>
  <dcterms:created xsi:type="dcterms:W3CDTF">2026-05-20T22:53:08Z</dcterms:created>
  <dcterms:modified xsi:type="dcterms:W3CDTF">2026-05-28T02:53:07Z</dcterms:modified>
</cp:coreProperties>
</file>